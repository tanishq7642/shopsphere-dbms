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Calibri" panose="020F0502020204030204" pitchFamily="34" charset="0"/>
      <p:regular r:id="rId15"/>
      <p:bold r:id="rId16"/>
      <p:italic r:id="rId17"/>
      <p:boldItalic r:id="rId18"/>
    </p:embeddedFont>
    <p:embeddedFont>
      <p:font typeface="Platypi Medium" panose="020B0604020202020204" charset="0"/>
      <p:regular r:id="rId19"/>
    </p:embeddedFont>
    <p:embeddedFont>
      <p:font typeface="Source Serif Pro" panose="020406030504050202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3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765810" y="1264920"/>
            <a:ext cx="3954780" cy="5699760"/>
          </a:xfrm>
          <a:prstGeom prst="rect">
            <a:avLst/>
          </a:prstGeom>
        </p:spPr>
      </p:pic>
      <p:sp>
        <p:nvSpPr>
          <p:cNvPr id="4" name="Text 0"/>
          <p:cNvSpPr/>
          <p:nvPr/>
        </p:nvSpPr>
        <p:spPr>
          <a:xfrm>
            <a:off x="6280190" y="2373987"/>
            <a:ext cx="5688568"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AgriBotInsight India</a:t>
            </a:r>
            <a:endParaRPr lang="en-US" sz="4450" dirty="0"/>
          </a:p>
        </p:txBody>
      </p:sp>
      <p:sp>
        <p:nvSpPr>
          <p:cNvPr id="5" name="Text 1"/>
          <p:cNvSpPr/>
          <p:nvPr/>
        </p:nvSpPr>
        <p:spPr>
          <a:xfrm>
            <a:off x="6280190" y="342292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Your knowledge partner for Indian agriculture</a:t>
            </a:r>
            <a:endParaRPr lang="en-US" sz="1750" dirty="0"/>
          </a:p>
        </p:txBody>
      </p:sp>
      <p:sp>
        <p:nvSpPr>
          <p:cNvPr id="6" name="Text 2"/>
          <p:cNvSpPr/>
          <p:nvPr/>
        </p:nvSpPr>
        <p:spPr>
          <a:xfrm>
            <a:off x="6280190" y="4040981"/>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Welcome to AgriBotInsight India, an innovative platform designed to empower Indian farmers with the right knowledge for better farming outcomes. Whether you are looking for crop advice, market trends, or weather updates, AgriBotInsight supports you with reliable, personalized insights based on local conditions.</a:t>
            </a:r>
            <a:endParaRPr lang="en-US" sz="1750" dirty="0"/>
          </a:p>
        </p:txBody>
      </p:sp>
      <p:sp>
        <p:nvSpPr>
          <p:cNvPr id="10" name="TextBox 9">
            <a:extLst>
              <a:ext uri="{FF2B5EF4-FFF2-40B4-BE49-F238E27FC236}">
                <a16:creationId xmlns:a16="http://schemas.microsoft.com/office/drawing/2014/main" id="{C61A3251-35C4-411C-8075-D409E2308FC5}"/>
              </a:ext>
            </a:extLst>
          </p:cNvPr>
          <p:cNvSpPr txBox="1"/>
          <p:nvPr/>
        </p:nvSpPr>
        <p:spPr>
          <a:xfrm>
            <a:off x="12755301" y="7558268"/>
            <a:ext cx="1875099" cy="671332"/>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89992"/>
            <a:ext cx="6829306"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Farming Knowledge Hub</a:t>
            </a:r>
            <a:endParaRPr lang="en-US" sz="4450" dirty="0"/>
          </a:p>
        </p:txBody>
      </p:sp>
      <p:sp>
        <p:nvSpPr>
          <p:cNvPr id="3" name="Text 1"/>
          <p:cNvSpPr/>
          <p:nvPr/>
        </p:nvSpPr>
        <p:spPr>
          <a:xfrm>
            <a:off x="793790" y="1938933"/>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Access a comprehensive repository of crop information and farming techniques specially tailored for Indian agro-climatic zones. Our platform covers major crops including rice, wheat, cotton, sugarcane, and pulses, providing detailed best practices for cultivation and care.</a:t>
            </a:r>
            <a:endParaRPr lang="en-US" sz="1750" dirty="0"/>
          </a:p>
        </p:txBody>
      </p:sp>
      <p:sp>
        <p:nvSpPr>
          <p:cNvPr id="4" name="Text 2"/>
          <p:cNvSpPr/>
          <p:nvPr/>
        </p:nvSpPr>
        <p:spPr>
          <a:xfrm>
            <a:off x="793790" y="328279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Explore sustainable methods and improve yields with season-specific guidance tailored for local soil and weather. This knowledge hub is your first step towards precision farming that respects India's diversity.</a:t>
            </a:r>
            <a:endParaRPr lang="en-US" sz="1750" dirty="0"/>
          </a:p>
        </p:txBody>
      </p:sp>
      <p:sp>
        <p:nvSpPr>
          <p:cNvPr id="5" name="Shape 3"/>
          <p:cNvSpPr/>
          <p:nvPr/>
        </p:nvSpPr>
        <p:spPr>
          <a:xfrm>
            <a:off x="793790" y="4263747"/>
            <a:ext cx="6408063" cy="3075742"/>
          </a:xfrm>
          <a:prstGeom prst="roundRect">
            <a:avLst>
              <a:gd name="adj" fmla="val 1106"/>
            </a:avLst>
          </a:prstGeom>
          <a:solidFill>
            <a:srgbClr val="F9F7F7"/>
          </a:solidFill>
          <a:ln/>
        </p:spPr>
      </p:sp>
      <p:sp>
        <p:nvSpPr>
          <p:cNvPr id="6" name="Text 4"/>
          <p:cNvSpPr/>
          <p:nvPr/>
        </p:nvSpPr>
        <p:spPr>
          <a:xfrm>
            <a:off x="1020604" y="44905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Popular Crops</a:t>
            </a:r>
            <a:endParaRPr lang="en-US" sz="2200" dirty="0"/>
          </a:p>
        </p:txBody>
      </p:sp>
      <p:sp>
        <p:nvSpPr>
          <p:cNvPr id="7" name="Text 5"/>
          <p:cNvSpPr/>
          <p:nvPr/>
        </p:nvSpPr>
        <p:spPr>
          <a:xfrm>
            <a:off x="1020604" y="4980980"/>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Rice</a:t>
            </a:r>
            <a:endParaRPr lang="en-US" sz="1750" dirty="0"/>
          </a:p>
        </p:txBody>
      </p:sp>
      <p:sp>
        <p:nvSpPr>
          <p:cNvPr id="8" name="Text 6"/>
          <p:cNvSpPr/>
          <p:nvPr/>
        </p:nvSpPr>
        <p:spPr>
          <a:xfrm>
            <a:off x="1020604" y="5423178"/>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Wheat</a:t>
            </a:r>
            <a:endParaRPr lang="en-US" sz="1750" dirty="0"/>
          </a:p>
        </p:txBody>
      </p:sp>
      <p:sp>
        <p:nvSpPr>
          <p:cNvPr id="9" name="Text 7"/>
          <p:cNvSpPr/>
          <p:nvPr/>
        </p:nvSpPr>
        <p:spPr>
          <a:xfrm>
            <a:off x="1020604" y="5865376"/>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Cotton</a:t>
            </a:r>
            <a:endParaRPr lang="en-US" sz="1750" dirty="0"/>
          </a:p>
        </p:txBody>
      </p:sp>
      <p:sp>
        <p:nvSpPr>
          <p:cNvPr id="10" name="Text 8"/>
          <p:cNvSpPr/>
          <p:nvPr/>
        </p:nvSpPr>
        <p:spPr>
          <a:xfrm>
            <a:off x="1020604" y="6307574"/>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Sugarcane</a:t>
            </a:r>
            <a:endParaRPr lang="en-US" sz="1750" dirty="0"/>
          </a:p>
        </p:txBody>
      </p:sp>
      <p:sp>
        <p:nvSpPr>
          <p:cNvPr id="11" name="Text 9"/>
          <p:cNvSpPr/>
          <p:nvPr/>
        </p:nvSpPr>
        <p:spPr>
          <a:xfrm>
            <a:off x="1020604" y="6749772"/>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Pulses</a:t>
            </a:r>
            <a:endParaRPr lang="en-US" sz="1750" dirty="0"/>
          </a:p>
        </p:txBody>
      </p:sp>
      <p:sp>
        <p:nvSpPr>
          <p:cNvPr id="12" name="Shape 10"/>
          <p:cNvSpPr/>
          <p:nvPr/>
        </p:nvSpPr>
        <p:spPr>
          <a:xfrm>
            <a:off x="7428667" y="4263747"/>
            <a:ext cx="6408063" cy="3075742"/>
          </a:xfrm>
          <a:prstGeom prst="roundRect">
            <a:avLst>
              <a:gd name="adj" fmla="val 1106"/>
            </a:avLst>
          </a:prstGeom>
          <a:solidFill>
            <a:srgbClr val="F9F7F7"/>
          </a:solidFill>
          <a:ln/>
        </p:spPr>
      </p:sp>
      <p:sp>
        <p:nvSpPr>
          <p:cNvPr id="13" name="Text 11"/>
          <p:cNvSpPr/>
          <p:nvPr/>
        </p:nvSpPr>
        <p:spPr>
          <a:xfrm>
            <a:off x="7655481" y="44905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Benefits</a:t>
            </a:r>
            <a:endParaRPr lang="en-US" sz="2200" dirty="0"/>
          </a:p>
        </p:txBody>
      </p:sp>
      <p:sp>
        <p:nvSpPr>
          <p:cNvPr id="14" name="Text 12"/>
          <p:cNvSpPr/>
          <p:nvPr/>
        </p:nvSpPr>
        <p:spPr>
          <a:xfrm>
            <a:off x="7655481" y="4980980"/>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Improved crop knowledge</a:t>
            </a:r>
            <a:endParaRPr lang="en-US" sz="1750" dirty="0"/>
          </a:p>
        </p:txBody>
      </p:sp>
      <p:sp>
        <p:nvSpPr>
          <p:cNvPr id="15" name="Text 13"/>
          <p:cNvSpPr/>
          <p:nvPr/>
        </p:nvSpPr>
        <p:spPr>
          <a:xfrm>
            <a:off x="7655481" y="5423178"/>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Better yield techniques</a:t>
            </a:r>
            <a:endParaRPr lang="en-US" sz="1750" dirty="0"/>
          </a:p>
        </p:txBody>
      </p:sp>
      <p:sp>
        <p:nvSpPr>
          <p:cNvPr id="16" name="Text 14"/>
          <p:cNvSpPr/>
          <p:nvPr/>
        </p:nvSpPr>
        <p:spPr>
          <a:xfrm>
            <a:off x="7655481" y="5865376"/>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Sustainable farming tips</a:t>
            </a:r>
            <a:endParaRPr lang="en-US" sz="1750" dirty="0"/>
          </a:p>
        </p:txBody>
      </p:sp>
      <p:sp>
        <p:nvSpPr>
          <p:cNvPr id="17" name="Text 15"/>
          <p:cNvSpPr/>
          <p:nvPr/>
        </p:nvSpPr>
        <p:spPr>
          <a:xfrm>
            <a:off x="7655481" y="6307574"/>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Locally relevant advice</a:t>
            </a:r>
            <a:endParaRPr lang="en-US" sz="1750" dirty="0"/>
          </a:p>
        </p:txBody>
      </p:sp>
      <p:sp>
        <p:nvSpPr>
          <p:cNvPr id="18" name="TextBox 17">
            <a:extLst>
              <a:ext uri="{FF2B5EF4-FFF2-40B4-BE49-F238E27FC236}">
                <a16:creationId xmlns:a16="http://schemas.microsoft.com/office/drawing/2014/main" id="{3752881E-599F-4438-B35C-DFB5BEA82621}"/>
              </a:ext>
            </a:extLst>
          </p:cNvPr>
          <p:cNvSpPr txBox="1"/>
          <p:nvPr/>
        </p:nvSpPr>
        <p:spPr>
          <a:xfrm>
            <a:off x="12813175" y="7594640"/>
            <a:ext cx="1817225" cy="63496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6399" y="853083"/>
            <a:ext cx="5791319" cy="639604"/>
          </a:xfrm>
          <a:prstGeom prst="rect">
            <a:avLst/>
          </a:prstGeom>
          <a:noFill/>
          <a:ln/>
        </p:spPr>
        <p:txBody>
          <a:bodyPr wrap="none" lIns="0" tIns="0" rIns="0" bIns="0" rtlCol="0" anchor="t"/>
          <a:lstStyle/>
          <a:p>
            <a:pPr marL="0" indent="0" algn="l">
              <a:lnSpc>
                <a:spcPts val="5000"/>
              </a:lnSpc>
              <a:buNone/>
            </a:pPr>
            <a:r>
              <a:rPr lang="en-US" sz="4000" dirty="0">
                <a:solidFill>
                  <a:srgbClr val="201B18"/>
                </a:solidFill>
                <a:latin typeface="Platypi Medium" pitchFamily="34" charset="0"/>
                <a:ea typeface="Platypi Medium" pitchFamily="34" charset="-122"/>
                <a:cs typeface="Platypi Medium" pitchFamily="34" charset="-120"/>
              </a:rPr>
              <a:t>Crop Advisory Services</a:t>
            </a:r>
            <a:endParaRPr lang="en-US" sz="4000" dirty="0"/>
          </a:p>
        </p:txBody>
      </p:sp>
      <p:sp>
        <p:nvSpPr>
          <p:cNvPr id="4" name="Text 1"/>
          <p:cNvSpPr/>
          <p:nvPr/>
        </p:nvSpPr>
        <p:spPr>
          <a:xfrm>
            <a:off x="7572494" y="832604"/>
            <a:ext cx="6349127" cy="3274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5" name="Text 2"/>
          <p:cNvSpPr/>
          <p:nvPr/>
        </p:nvSpPr>
        <p:spPr>
          <a:xfrm>
            <a:off x="7572494" y="1344216"/>
            <a:ext cx="6349127" cy="1309688"/>
          </a:xfrm>
          <a:prstGeom prst="rect">
            <a:avLst/>
          </a:prstGeom>
          <a:noFill/>
          <a:ln/>
        </p:spPr>
        <p:txBody>
          <a:bodyPr wrap="square" lIns="0" tIns="0" rIns="0" bIns="0" rtlCol="0" anchor="t"/>
          <a:lstStyle/>
          <a:p>
            <a:pPr marL="0" indent="0" algn="l">
              <a:lnSpc>
                <a:spcPts val="2550"/>
              </a:lnSpc>
              <a:buNone/>
            </a:pPr>
            <a:r>
              <a:rPr lang="en-US" sz="1600" dirty="0">
                <a:solidFill>
                  <a:srgbClr val="504C49"/>
                </a:solidFill>
                <a:latin typeface="Source Serif Pro" pitchFamily="34" charset="0"/>
                <a:ea typeface="Source Serif Pro" pitchFamily="34" charset="-122"/>
                <a:cs typeface="Source Serif Pro" pitchFamily="34" charset="-120"/>
              </a:rPr>
              <a:t>Receive personalized advice for crop selection, cultivation techniques, pest management, and disease resistance. Our AI-driven system factors in seasonal and regional specifics to help you choose the best crop varieties and farming methods.</a:t>
            </a:r>
            <a:endParaRPr lang="en-US" sz="1600" dirty="0"/>
          </a:p>
        </p:txBody>
      </p:sp>
      <p:sp>
        <p:nvSpPr>
          <p:cNvPr id="6" name="Text 3"/>
          <p:cNvSpPr/>
          <p:nvPr/>
        </p:nvSpPr>
        <p:spPr>
          <a:xfrm>
            <a:off x="7572494" y="2838093"/>
            <a:ext cx="6349127" cy="982266"/>
          </a:xfrm>
          <a:prstGeom prst="rect">
            <a:avLst/>
          </a:prstGeom>
          <a:noFill/>
          <a:ln/>
        </p:spPr>
        <p:txBody>
          <a:bodyPr wrap="square" lIns="0" tIns="0" rIns="0" bIns="0" rtlCol="0" anchor="t"/>
          <a:lstStyle/>
          <a:p>
            <a:pPr marL="0" indent="0" algn="l">
              <a:lnSpc>
                <a:spcPts val="2550"/>
              </a:lnSpc>
              <a:buNone/>
            </a:pPr>
            <a:r>
              <a:rPr lang="en-US" sz="1600" dirty="0">
                <a:solidFill>
                  <a:srgbClr val="504C49"/>
                </a:solidFill>
                <a:latin typeface="Source Serif Pro" pitchFamily="34" charset="0"/>
                <a:ea typeface="Source Serif Pro" pitchFamily="34" charset="-122"/>
                <a:cs typeface="Source Serif Pro" pitchFamily="34" charset="-120"/>
              </a:rPr>
              <a:t>Our recommendations promote organic and high-yield practices tailored to your land conditions, ensuring healthy crop growth and maximising production success.</a:t>
            </a:r>
            <a:endParaRPr lang="en-US" sz="1600" dirty="0"/>
          </a:p>
        </p:txBody>
      </p:sp>
      <p:sp>
        <p:nvSpPr>
          <p:cNvPr id="7" name="Shape 4"/>
          <p:cNvSpPr/>
          <p:nvPr/>
        </p:nvSpPr>
        <p:spPr>
          <a:xfrm>
            <a:off x="716399" y="6413302"/>
            <a:ext cx="460534" cy="460534"/>
          </a:xfrm>
          <a:prstGeom prst="roundRect">
            <a:avLst>
              <a:gd name="adj" fmla="val 6668"/>
            </a:avLst>
          </a:prstGeom>
          <a:solidFill>
            <a:srgbClr val="F9F7F7"/>
          </a:solidFill>
          <a:ln/>
        </p:spPr>
      </p:sp>
      <p:sp>
        <p:nvSpPr>
          <p:cNvPr id="8" name="Text 5"/>
          <p:cNvSpPr/>
          <p:nvPr/>
        </p:nvSpPr>
        <p:spPr>
          <a:xfrm>
            <a:off x="1381601" y="6483668"/>
            <a:ext cx="2558891" cy="319802"/>
          </a:xfrm>
          <a:prstGeom prst="rect">
            <a:avLst/>
          </a:prstGeom>
          <a:noFill/>
          <a:ln/>
        </p:spPr>
        <p:txBody>
          <a:bodyPr wrap="none" lIns="0" tIns="0" rIns="0" bIns="0" rtlCol="0" anchor="t"/>
          <a:lstStyle/>
          <a:p>
            <a:pPr marL="0" indent="0" algn="l">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Key Features</a:t>
            </a:r>
            <a:endParaRPr lang="en-US" sz="2000" dirty="0"/>
          </a:p>
        </p:txBody>
      </p:sp>
      <p:sp>
        <p:nvSpPr>
          <p:cNvPr id="9" name="Text 6"/>
          <p:cNvSpPr/>
          <p:nvPr/>
        </p:nvSpPr>
        <p:spPr>
          <a:xfrm>
            <a:off x="1381601" y="6926223"/>
            <a:ext cx="3563422" cy="654844"/>
          </a:xfrm>
          <a:prstGeom prst="rect">
            <a:avLst/>
          </a:prstGeom>
          <a:noFill/>
          <a:ln/>
        </p:spPr>
        <p:txBody>
          <a:bodyPr wrap="square" lIns="0" tIns="0" rIns="0" bIns="0" rtlCol="0" anchor="t"/>
          <a:lstStyle/>
          <a:p>
            <a:pPr marL="0" indent="0" algn="l">
              <a:lnSpc>
                <a:spcPts val="2550"/>
              </a:lnSpc>
              <a:buNone/>
            </a:pPr>
            <a:r>
              <a:rPr lang="en-US" sz="1600" dirty="0">
                <a:solidFill>
                  <a:srgbClr val="504C49"/>
                </a:solidFill>
                <a:latin typeface="Source Serif Pro" pitchFamily="34" charset="0"/>
                <a:ea typeface="Source Serif Pro" pitchFamily="34" charset="-122"/>
                <a:cs typeface="Source Serif Pro" pitchFamily="34" charset="-120"/>
              </a:rPr>
              <a:t>Seasonal crop choices matched to your region</a:t>
            </a:r>
            <a:endParaRPr lang="en-US" sz="1600" dirty="0"/>
          </a:p>
        </p:txBody>
      </p:sp>
      <p:sp>
        <p:nvSpPr>
          <p:cNvPr id="10" name="Shape 7"/>
          <p:cNvSpPr/>
          <p:nvPr/>
        </p:nvSpPr>
        <p:spPr>
          <a:xfrm>
            <a:off x="5200888" y="6413302"/>
            <a:ext cx="460534" cy="460534"/>
          </a:xfrm>
          <a:prstGeom prst="roundRect">
            <a:avLst>
              <a:gd name="adj" fmla="val 6668"/>
            </a:avLst>
          </a:prstGeom>
          <a:solidFill>
            <a:srgbClr val="F9F7F7"/>
          </a:solidFill>
          <a:ln/>
        </p:spPr>
      </p:sp>
      <p:sp>
        <p:nvSpPr>
          <p:cNvPr id="11" name="Text 8"/>
          <p:cNvSpPr/>
          <p:nvPr/>
        </p:nvSpPr>
        <p:spPr>
          <a:xfrm>
            <a:off x="5866090" y="6483668"/>
            <a:ext cx="2578894" cy="319802"/>
          </a:xfrm>
          <a:prstGeom prst="rect">
            <a:avLst/>
          </a:prstGeom>
          <a:noFill/>
          <a:ln/>
        </p:spPr>
        <p:txBody>
          <a:bodyPr wrap="none" lIns="0" tIns="0" rIns="0" bIns="0" rtlCol="0" anchor="t"/>
          <a:lstStyle/>
          <a:p>
            <a:pPr marL="0" indent="0" algn="l">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Customized Support</a:t>
            </a:r>
            <a:endParaRPr lang="en-US" sz="2000" dirty="0"/>
          </a:p>
        </p:txBody>
      </p:sp>
      <p:sp>
        <p:nvSpPr>
          <p:cNvPr id="12" name="Text 9"/>
          <p:cNvSpPr/>
          <p:nvPr/>
        </p:nvSpPr>
        <p:spPr>
          <a:xfrm>
            <a:off x="5866090" y="6926223"/>
            <a:ext cx="3563422" cy="654844"/>
          </a:xfrm>
          <a:prstGeom prst="rect">
            <a:avLst/>
          </a:prstGeom>
          <a:noFill/>
          <a:ln/>
        </p:spPr>
        <p:txBody>
          <a:bodyPr wrap="square" lIns="0" tIns="0" rIns="0" bIns="0" rtlCol="0" anchor="t"/>
          <a:lstStyle/>
          <a:p>
            <a:pPr marL="0" indent="0" algn="l">
              <a:lnSpc>
                <a:spcPts val="2550"/>
              </a:lnSpc>
              <a:buNone/>
            </a:pPr>
            <a:r>
              <a:rPr lang="en-US" sz="1600" dirty="0">
                <a:solidFill>
                  <a:srgbClr val="504C49"/>
                </a:solidFill>
                <a:latin typeface="Source Serif Pro" pitchFamily="34" charset="0"/>
                <a:ea typeface="Source Serif Pro" pitchFamily="34" charset="-122"/>
                <a:cs typeface="Source Serif Pro" pitchFamily="34" charset="-120"/>
              </a:rPr>
              <a:t>Organic and disease-resistant crop guidance</a:t>
            </a:r>
            <a:endParaRPr lang="en-US" sz="1600" dirty="0"/>
          </a:p>
        </p:txBody>
      </p:sp>
      <p:sp>
        <p:nvSpPr>
          <p:cNvPr id="13" name="Shape 10"/>
          <p:cNvSpPr/>
          <p:nvPr/>
        </p:nvSpPr>
        <p:spPr>
          <a:xfrm>
            <a:off x="9685377" y="6413302"/>
            <a:ext cx="460534" cy="460534"/>
          </a:xfrm>
          <a:prstGeom prst="roundRect">
            <a:avLst>
              <a:gd name="adj" fmla="val 6668"/>
            </a:avLst>
          </a:prstGeom>
          <a:solidFill>
            <a:srgbClr val="F9F7F7"/>
          </a:solidFill>
          <a:ln/>
        </p:spPr>
      </p:sp>
      <p:sp>
        <p:nvSpPr>
          <p:cNvPr id="14" name="Text 11"/>
          <p:cNvSpPr/>
          <p:nvPr/>
        </p:nvSpPr>
        <p:spPr>
          <a:xfrm>
            <a:off x="10350579" y="6483668"/>
            <a:ext cx="2558891" cy="319802"/>
          </a:xfrm>
          <a:prstGeom prst="rect">
            <a:avLst/>
          </a:prstGeom>
          <a:noFill/>
          <a:ln/>
        </p:spPr>
        <p:txBody>
          <a:bodyPr wrap="none" lIns="0" tIns="0" rIns="0" bIns="0" rtlCol="0" anchor="t"/>
          <a:lstStyle/>
          <a:p>
            <a:pPr marL="0" indent="0" algn="l">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Maximized Yields</a:t>
            </a:r>
            <a:endParaRPr lang="en-US" sz="2000" dirty="0"/>
          </a:p>
        </p:txBody>
      </p:sp>
      <p:sp>
        <p:nvSpPr>
          <p:cNvPr id="15" name="Text 12"/>
          <p:cNvSpPr/>
          <p:nvPr/>
        </p:nvSpPr>
        <p:spPr>
          <a:xfrm>
            <a:off x="10350579" y="6926223"/>
            <a:ext cx="3563422" cy="654844"/>
          </a:xfrm>
          <a:prstGeom prst="rect">
            <a:avLst/>
          </a:prstGeom>
          <a:noFill/>
          <a:ln/>
        </p:spPr>
        <p:txBody>
          <a:bodyPr wrap="square" lIns="0" tIns="0" rIns="0" bIns="0" rtlCol="0" anchor="t"/>
          <a:lstStyle/>
          <a:p>
            <a:pPr marL="0" indent="0" algn="l">
              <a:lnSpc>
                <a:spcPts val="2550"/>
              </a:lnSpc>
              <a:buNone/>
            </a:pPr>
            <a:r>
              <a:rPr lang="en-US" sz="1600" dirty="0">
                <a:solidFill>
                  <a:srgbClr val="504C49"/>
                </a:solidFill>
                <a:latin typeface="Source Serif Pro" pitchFamily="34" charset="0"/>
                <a:ea typeface="Source Serif Pro" pitchFamily="34" charset="-122"/>
                <a:cs typeface="Source Serif Pro" pitchFamily="34" charset="-120"/>
              </a:rPr>
              <a:t>High productivity methods backed by data</a:t>
            </a:r>
            <a:endParaRPr lang="en-US" sz="1600" dirty="0"/>
          </a:p>
        </p:txBody>
      </p:sp>
      <p:pic>
        <p:nvPicPr>
          <p:cNvPr id="19" name="Picture 18">
            <a:extLst>
              <a:ext uri="{FF2B5EF4-FFF2-40B4-BE49-F238E27FC236}">
                <a16:creationId xmlns:a16="http://schemas.microsoft.com/office/drawing/2014/main" id="{6CB1DD54-276E-4E89-B103-6A9AC3C207A3}"/>
              </a:ext>
            </a:extLst>
          </p:cNvPr>
          <p:cNvPicPr>
            <a:picLocks noChangeAspect="1"/>
          </p:cNvPicPr>
          <p:nvPr/>
        </p:nvPicPr>
        <p:blipFill>
          <a:blip r:embed="rId3"/>
          <a:stretch>
            <a:fillRect/>
          </a:stretch>
        </p:blipFill>
        <p:spPr>
          <a:xfrm>
            <a:off x="708778" y="1615441"/>
            <a:ext cx="6547901" cy="4675108"/>
          </a:xfrm>
          <a:prstGeom prst="rect">
            <a:avLst/>
          </a:prstGeom>
        </p:spPr>
      </p:pic>
      <p:sp>
        <p:nvSpPr>
          <p:cNvPr id="20" name="TextBox 19">
            <a:extLst>
              <a:ext uri="{FF2B5EF4-FFF2-40B4-BE49-F238E27FC236}">
                <a16:creationId xmlns:a16="http://schemas.microsoft.com/office/drawing/2014/main" id="{5A8FD6C0-D9B5-4B82-9FE8-D7DCBC062DDE}"/>
              </a:ext>
            </a:extLst>
          </p:cNvPr>
          <p:cNvSpPr txBox="1"/>
          <p:nvPr/>
        </p:nvSpPr>
        <p:spPr>
          <a:xfrm>
            <a:off x="12674278" y="7581067"/>
            <a:ext cx="1956122" cy="648533"/>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83663"/>
            <a:ext cx="5870496"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Explore Our Features</a:t>
            </a:r>
            <a:endParaRPr lang="en-US" sz="4450" dirty="0"/>
          </a:p>
        </p:txBody>
      </p:sp>
      <p:sp>
        <p:nvSpPr>
          <p:cNvPr id="3" name="Text 1"/>
          <p:cNvSpPr/>
          <p:nvPr/>
        </p:nvSpPr>
        <p:spPr>
          <a:xfrm>
            <a:off x="793790" y="284607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Plan your farming calendar, track market price trends, forecast weather, and get regional insights—all in one place. These features support smart decision-making for Indian farmers across diverse agro-climatic zones.</a:t>
            </a:r>
            <a:endParaRPr lang="en-US" sz="1750" dirty="0"/>
          </a:p>
        </p:txBody>
      </p:sp>
      <p:sp>
        <p:nvSpPr>
          <p:cNvPr id="4" name="Text 2"/>
          <p:cNvSpPr/>
          <p:nvPr/>
        </p:nvSpPr>
        <p:spPr>
          <a:xfrm>
            <a:off x="793790" y="382702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Stay ahead with tailored updates and tools designed explicitly for India’s agriculture ecosystem.</a:t>
            </a:r>
            <a:endParaRPr lang="en-US" sz="1750" dirty="0"/>
          </a:p>
        </p:txBody>
      </p:sp>
      <p:sp>
        <p:nvSpPr>
          <p:cNvPr id="5" name="Text 3"/>
          <p:cNvSpPr/>
          <p:nvPr/>
        </p:nvSpPr>
        <p:spPr>
          <a:xfrm>
            <a:off x="793790" y="46718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Crop Calendar</a:t>
            </a:r>
            <a:endParaRPr lang="en-US" sz="2200" dirty="0"/>
          </a:p>
        </p:txBody>
      </p:sp>
      <p:sp>
        <p:nvSpPr>
          <p:cNvPr id="6" name="Text 4"/>
          <p:cNvSpPr/>
          <p:nvPr/>
        </p:nvSpPr>
        <p:spPr>
          <a:xfrm>
            <a:off x="793790" y="5253038"/>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Plan sowing and harvesting with seasonality guides</a:t>
            </a:r>
            <a:endParaRPr lang="en-US" sz="1750" dirty="0"/>
          </a:p>
        </p:txBody>
      </p:sp>
      <p:sp>
        <p:nvSpPr>
          <p:cNvPr id="7" name="Text 5"/>
          <p:cNvSpPr/>
          <p:nvPr/>
        </p:nvSpPr>
        <p:spPr>
          <a:xfrm>
            <a:off x="4200406" y="46718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Market Analysis</a:t>
            </a:r>
            <a:endParaRPr lang="en-US" sz="2200" dirty="0"/>
          </a:p>
        </p:txBody>
      </p:sp>
      <p:sp>
        <p:nvSpPr>
          <p:cNvPr id="8" name="Text 6"/>
          <p:cNvSpPr/>
          <p:nvPr/>
        </p:nvSpPr>
        <p:spPr>
          <a:xfrm>
            <a:off x="4200406" y="5253038"/>
            <a:ext cx="2845594"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Stay updated with latest crop prices and market trends</a:t>
            </a:r>
            <a:endParaRPr lang="en-US" sz="1750" dirty="0"/>
          </a:p>
        </p:txBody>
      </p:sp>
      <p:sp>
        <p:nvSpPr>
          <p:cNvPr id="9" name="Text 7"/>
          <p:cNvSpPr/>
          <p:nvPr/>
        </p:nvSpPr>
        <p:spPr>
          <a:xfrm>
            <a:off x="7607022" y="46718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Weather Forecast</a:t>
            </a:r>
            <a:endParaRPr lang="en-US" sz="2200" dirty="0"/>
          </a:p>
        </p:txBody>
      </p:sp>
      <p:sp>
        <p:nvSpPr>
          <p:cNvPr id="10" name="Text 8"/>
          <p:cNvSpPr/>
          <p:nvPr/>
        </p:nvSpPr>
        <p:spPr>
          <a:xfrm>
            <a:off x="7607022" y="5253038"/>
            <a:ext cx="2845594"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Accurate weather predictions for your location</a:t>
            </a:r>
            <a:endParaRPr lang="en-US" sz="1750" dirty="0"/>
          </a:p>
        </p:txBody>
      </p:sp>
      <p:sp>
        <p:nvSpPr>
          <p:cNvPr id="11" name="Text 9"/>
          <p:cNvSpPr/>
          <p:nvPr/>
        </p:nvSpPr>
        <p:spPr>
          <a:xfrm>
            <a:off x="11013638" y="46718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Regional Insights</a:t>
            </a:r>
            <a:endParaRPr lang="en-US" sz="2200" dirty="0"/>
          </a:p>
        </p:txBody>
      </p:sp>
      <p:sp>
        <p:nvSpPr>
          <p:cNvPr id="12" name="Text 10"/>
          <p:cNvSpPr/>
          <p:nvPr/>
        </p:nvSpPr>
        <p:spPr>
          <a:xfrm>
            <a:off x="11013638" y="5253038"/>
            <a:ext cx="2845594"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Know farming conditions across different Indian states</a:t>
            </a:r>
            <a:endParaRPr lang="en-US" sz="1750" dirty="0"/>
          </a:p>
        </p:txBody>
      </p:sp>
      <p:sp>
        <p:nvSpPr>
          <p:cNvPr id="13" name="TextBox 12">
            <a:extLst>
              <a:ext uri="{FF2B5EF4-FFF2-40B4-BE49-F238E27FC236}">
                <a16:creationId xmlns:a16="http://schemas.microsoft.com/office/drawing/2014/main" id="{F1A52EA7-6ACB-4AF1-A6C9-453B414A274A}"/>
              </a:ext>
            </a:extLst>
          </p:cNvPr>
          <p:cNvSpPr txBox="1"/>
          <p:nvPr/>
        </p:nvSpPr>
        <p:spPr>
          <a:xfrm>
            <a:off x="12801600" y="7650866"/>
            <a:ext cx="1828800" cy="578734"/>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187" y="608171"/>
            <a:ext cx="7596426" cy="1381601"/>
          </a:xfrm>
          <a:prstGeom prst="rect">
            <a:avLst/>
          </a:prstGeom>
          <a:noFill/>
          <a:ln/>
        </p:spPr>
        <p:txBody>
          <a:bodyPr wrap="square" lIns="0" tIns="0" rIns="0" bIns="0" rtlCol="0" anchor="t"/>
          <a:lstStyle/>
          <a:p>
            <a:pPr marL="0" indent="0" algn="l">
              <a:lnSpc>
                <a:spcPts val="5400"/>
              </a:lnSpc>
              <a:buNone/>
            </a:pPr>
            <a:r>
              <a:rPr lang="en-US" sz="4350" dirty="0">
                <a:solidFill>
                  <a:srgbClr val="201B18"/>
                </a:solidFill>
                <a:latin typeface="Platypi Medium" pitchFamily="34" charset="0"/>
                <a:ea typeface="Platypi Medium" pitchFamily="34" charset="-122"/>
                <a:cs typeface="Platypi Medium" pitchFamily="34" charset="-120"/>
              </a:rPr>
              <a:t>Select a Crop to Learn About</a:t>
            </a:r>
            <a:endParaRPr lang="en-US" sz="4350" dirty="0"/>
          </a:p>
        </p:txBody>
      </p:sp>
      <p:sp>
        <p:nvSpPr>
          <p:cNvPr id="4" name="Text 1"/>
          <p:cNvSpPr/>
          <p:nvPr/>
        </p:nvSpPr>
        <p:spPr>
          <a:xfrm>
            <a:off x="6260187" y="2321362"/>
            <a:ext cx="7596426" cy="1414939"/>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Pro" pitchFamily="34" charset="0"/>
                <a:ea typeface="Source Serif Pro" pitchFamily="34" charset="-122"/>
                <a:cs typeface="Source Serif Pro" pitchFamily="34" charset="-120"/>
              </a:rPr>
              <a:t>Explore individualized information on a wide range of crops cultivated across India. From staples like rice and wheat to cash crops like sugarcane and tea, learn cultivation tips, pest control strategies, and market potential for each crop.</a:t>
            </a:r>
            <a:endParaRPr lang="en-US" sz="1700" dirty="0"/>
          </a:p>
        </p:txBody>
      </p:sp>
      <p:sp>
        <p:nvSpPr>
          <p:cNvPr id="5" name="Text 2"/>
          <p:cNvSpPr/>
          <p:nvPr/>
        </p:nvSpPr>
        <p:spPr>
          <a:xfrm>
            <a:off x="6260187" y="3985022"/>
            <a:ext cx="7596426" cy="707469"/>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Pro" pitchFamily="34" charset="0"/>
                <a:ea typeface="Source Serif Pro" pitchFamily="34" charset="-122"/>
                <a:cs typeface="Source Serif Pro" pitchFamily="34" charset="-120"/>
              </a:rPr>
              <a:t>This selection aids farmers in making informed decisions on crop rotation, diversification, and investment.</a:t>
            </a:r>
            <a:endParaRPr lang="en-US" sz="1700" dirty="0"/>
          </a:p>
        </p:txBody>
      </p:sp>
      <p:pic>
        <p:nvPicPr>
          <p:cNvPr id="6" name="Image 1" descr="preencoded.png"/>
          <p:cNvPicPr>
            <a:picLocks noChangeAspect="1"/>
          </p:cNvPicPr>
          <p:nvPr/>
        </p:nvPicPr>
        <p:blipFill>
          <a:blip r:embed="rId4"/>
          <a:stretch>
            <a:fillRect/>
          </a:stretch>
        </p:blipFill>
        <p:spPr>
          <a:xfrm>
            <a:off x="6260187" y="4941213"/>
            <a:ext cx="552688" cy="552688"/>
          </a:xfrm>
          <a:prstGeom prst="rect">
            <a:avLst/>
          </a:prstGeom>
        </p:spPr>
      </p:pic>
      <p:sp>
        <p:nvSpPr>
          <p:cNvPr id="7" name="Text 3"/>
          <p:cNvSpPr/>
          <p:nvPr/>
        </p:nvSpPr>
        <p:spPr>
          <a:xfrm>
            <a:off x="6260187" y="5714881"/>
            <a:ext cx="2347912" cy="345400"/>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Rice</a:t>
            </a:r>
            <a:endParaRPr lang="en-US" sz="2150" dirty="0"/>
          </a:p>
        </p:txBody>
      </p:sp>
      <p:pic>
        <p:nvPicPr>
          <p:cNvPr id="8" name="Image 2" descr="preencoded.png"/>
          <p:cNvPicPr>
            <a:picLocks noChangeAspect="1"/>
          </p:cNvPicPr>
          <p:nvPr/>
        </p:nvPicPr>
        <p:blipFill>
          <a:blip r:embed="rId5"/>
          <a:stretch>
            <a:fillRect/>
          </a:stretch>
        </p:blipFill>
        <p:spPr>
          <a:xfrm>
            <a:off x="8884444" y="4941213"/>
            <a:ext cx="552688" cy="552688"/>
          </a:xfrm>
          <a:prstGeom prst="rect">
            <a:avLst/>
          </a:prstGeom>
        </p:spPr>
      </p:pic>
      <p:sp>
        <p:nvSpPr>
          <p:cNvPr id="9" name="Text 4"/>
          <p:cNvSpPr/>
          <p:nvPr/>
        </p:nvSpPr>
        <p:spPr>
          <a:xfrm>
            <a:off x="8884444" y="5714881"/>
            <a:ext cx="2347912" cy="345400"/>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Wheat</a:t>
            </a:r>
            <a:endParaRPr lang="en-US" sz="2150" dirty="0"/>
          </a:p>
        </p:txBody>
      </p:sp>
      <p:pic>
        <p:nvPicPr>
          <p:cNvPr id="10" name="Image 3" descr="preencoded.png"/>
          <p:cNvPicPr>
            <a:picLocks noChangeAspect="1"/>
          </p:cNvPicPr>
          <p:nvPr/>
        </p:nvPicPr>
        <p:blipFill>
          <a:blip r:embed="rId6"/>
          <a:stretch>
            <a:fillRect/>
          </a:stretch>
        </p:blipFill>
        <p:spPr>
          <a:xfrm>
            <a:off x="11508700" y="4941213"/>
            <a:ext cx="552688" cy="552688"/>
          </a:xfrm>
          <a:prstGeom prst="rect">
            <a:avLst/>
          </a:prstGeom>
        </p:spPr>
      </p:pic>
      <p:sp>
        <p:nvSpPr>
          <p:cNvPr id="11" name="Text 5"/>
          <p:cNvSpPr/>
          <p:nvPr/>
        </p:nvSpPr>
        <p:spPr>
          <a:xfrm>
            <a:off x="11508700" y="5714881"/>
            <a:ext cx="2347912" cy="345400"/>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Maize</a:t>
            </a:r>
            <a:endParaRPr lang="en-US" sz="2150" dirty="0"/>
          </a:p>
        </p:txBody>
      </p:sp>
      <p:pic>
        <p:nvPicPr>
          <p:cNvPr id="12" name="Image 4" descr="preencoded.png"/>
          <p:cNvPicPr>
            <a:picLocks noChangeAspect="1"/>
          </p:cNvPicPr>
          <p:nvPr/>
        </p:nvPicPr>
        <p:blipFill>
          <a:blip r:embed="rId7"/>
          <a:stretch>
            <a:fillRect/>
          </a:stretch>
        </p:blipFill>
        <p:spPr>
          <a:xfrm>
            <a:off x="6260187" y="6502360"/>
            <a:ext cx="552688" cy="552688"/>
          </a:xfrm>
          <a:prstGeom prst="rect">
            <a:avLst/>
          </a:prstGeom>
        </p:spPr>
      </p:pic>
      <p:sp>
        <p:nvSpPr>
          <p:cNvPr id="13" name="Text 6"/>
          <p:cNvSpPr/>
          <p:nvPr/>
        </p:nvSpPr>
        <p:spPr>
          <a:xfrm>
            <a:off x="6260187" y="7276028"/>
            <a:ext cx="2347912" cy="345400"/>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Sugarcane</a:t>
            </a:r>
            <a:endParaRPr lang="en-US" sz="2150" dirty="0"/>
          </a:p>
        </p:txBody>
      </p:sp>
      <p:sp>
        <p:nvSpPr>
          <p:cNvPr id="14" name="TextBox 13">
            <a:extLst>
              <a:ext uri="{FF2B5EF4-FFF2-40B4-BE49-F238E27FC236}">
                <a16:creationId xmlns:a16="http://schemas.microsoft.com/office/drawing/2014/main" id="{E82478D9-CEE8-44A1-BEF0-7DC612CAC120}"/>
              </a:ext>
            </a:extLst>
          </p:cNvPr>
          <p:cNvSpPr txBox="1"/>
          <p:nvPr/>
        </p:nvSpPr>
        <p:spPr>
          <a:xfrm>
            <a:off x="12778451" y="7720314"/>
            <a:ext cx="1851949" cy="509286"/>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37022"/>
            <a:ext cx="6003727"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About AgriBotInsight</a:t>
            </a:r>
            <a:endParaRPr lang="en-US" sz="4450" dirty="0"/>
          </a:p>
        </p:txBody>
      </p:sp>
      <p:sp>
        <p:nvSpPr>
          <p:cNvPr id="3" name="Text 1"/>
          <p:cNvSpPr/>
          <p:nvPr/>
        </p:nvSpPr>
        <p:spPr>
          <a:xfrm>
            <a:off x="793790" y="2190036"/>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AgriBotInsight India combines AI technology and extensive agricultural databases to deliver real-time, locally relevant information to farmers and agricultural professionals across India.</a:t>
            </a:r>
            <a:endParaRPr lang="en-US" sz="1750" dirty="0"/>
          </a:p>
        </p:txBody>
      </p:sp>
      <p:sp>
        <p:nvSpPr>
          <p:cNvPr id="4" name="Text 2"/>
          <p:cNvSpPr/>
          <p:nvPr/>
        </p:nvSpPr>
        <p:spPr>
          <a:xfrm>
            <a:off x="793790" y="3845719"/>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Our platform is designed to bridge the knowledge gap by providing actionable insights and guidance that enhance productivity, sustainability, and livelihoods in Indian farming communities.</a:t>
            </a:r>
            <a:endParaRPr lang="en-US" sz="1750" dirty="0"/>
          </a:p>
        </p:txBody>
      </p:sp>
      <p:sp>
        <p:nvSpPr>
          <p:cNvPr id="6" name="Text 3"/>
          <p:cNvSpPr/>
          <p:nvPr/>
        </p:nvSpPr>
        <p:spPr>
          <a:xfrm>
            <a:off x="7599521" y="5539264"/>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Shape 4"/>
          <p:cNvSpPr/>
          <p:nvPr/>
        </p:nvSpPr>
        <p:spPr>
          <a:xfrm>
            <a:off x="793790" y="6361390"/>
            <a:ext cx="510302" cy="510302"/>
          </a:xfrm>
          <a:prstGeom prst="roundRect">
            <a:avLst>
              <a:gd name="adj" fmla="val 6667"/>
            </a:avLst>
          </a:prstGeom>
          <a:solidFill>
            <a:srgbClr val="F9F7F7"/>
          </a:solidFill>
          <a:ln/>
        </p:spPr>
      </p:sp>
      <p:sp>
        <p:nvSpPr>
          <p:cNvPr id="8" name="Text 5"/>
          <p:cNvSpPr/>
          <p:nvPr/>
        </p:nvSpPr>
        <p:spPr>
          <a:xfrm>
            <a:off x="1530906" y="6439257"/>
            <a:ext cx="3167301"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AI-Powered Assistance</a:t>
            </a:r>
            <a:endParaRPr lang="en-US" sz="2200" dirty="0"/>
          </a:p>
        </p:txBody>
      </p:sp>
      <p:sp>
        <p:nvSpPr>
          <p:cNvPr id="9" name="Text 6"/>
          <p:cNvSpPr/>
          <p:nvPr/>
        </p:nvSpPr>
        <p:spPr>
          <a:xfrm>
            <a:off x="1530906" y="6929676"/>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Instant answers for your farming queries, anytime</a:t>
            </a:r>
            <a:endParaRPr lang="en-US" sz="1750" dirty="0"/>
          </a:p>
        </p:txBody>
      </p:sp>
      <p:sp>
        <p:nvSpPr>
          <p:cNvPr id="10" name="Shape 7"/>
          <p:cNvSpPr/>
          <p:nvPr/>
        </p:nvSpPr>
        <p:spPr>
          <a:xfrm>
            <a:off x="7457003" y="6361390"/>
            <a:ext cx="510302" cy="510302"/>
          </a:xfrm>
          <a:prstGeom prst="roundRect">
            <a:avLst>
              <a:gd name="adj" fmla="val 6667"/>
            </a:avLst>
          </a:prstGeom>
          <a:solidFill>
            <a:srgbClr val="F9F7F7"/>
          </a:solidFill>
          <a:ln/>
        </p:spPr>
      </p:sp>
      <p:sp>
        <p:nvSpPr>
          <p:cNvPr id="11" name="Text 8"/>
          <p:cNvSpPr/>
          <p:nvPr/>
        </p:nvSpPr>
        <p:spPr>
          <a:xfrm>
            <a:off x="8194119" y="64392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Localized Data</a:t>
            </a:r>
            <a:endParaRPr lang="en-US" sz="2200" dirty="0"/>
          </a:p>
        </p:txBody>
      </p:sp>
      <p:sp>
        <p:nvSpPr>
          <p:cNvPr id="12" name="Text 9"/>
          <p:cNvSpPr/>
          <p:nvPr/>
        </p:nvSpPr>
        <p:spPr>
          <a:xfrm>
            <a:off x="8194119" y="6929676"/>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State-wise crop and soil recommendations</a:t>
            </a:r>
            <a:endParaRPr lang="en-US" sz="1750" dirty="0"/>
          </a:p>
        </p:txBody>
      </p:sp>
      <p:pic>
        <p:nvPicPr>
          <p:cNvPr id="14" name="Picture 13">
            <a:extLst>
              <a:ext uri="{FF2B5EF4-FFF2-40B4-BE49-F238E27FC236}">
                <a16:creationId xmlns:a16="http://schemas.microsoft.com/office/drawing/2014/main" id="{10FF2E43-6F38-4152-9A5F-969E73DEE591}"/>
              </a:ext>
            </a:extLst>
          </p:cNvPr>
          <p:cNvPicPr>
            <a:picLocks noChangeAspect="1"/>
          </p:cNvPicPr>
          <p:nvPr/>
        </p:nvPicPr>
        <p:blipFill>
          <a:blip r:embed="rId3"/>
          <a:stretch>
            <a:fillRect/>
          </a:stretch>
        </p:blipFill>
        <p:spPr>
          <a:xfrm>
            <a:off x="7173515" y="871085"/>
            <a:ext cx="7005471" cy="5170900"/>
          </a:xfrm>
          <a:prstGeom prst="rect">
            <a:avLst/>
          </a:prstGeom>
        </p:spPr>
      </p:pic>
      <p:sp>
        <p:nvSpPr>
          <p:cNvPr id="15" name="TextBox 14">
            <a:extLst>
              <a:ext uri="{FF2B5EF4-FFF2-40B4-BE49-F238E27FC236}">
                <a16:creationId xmlns:a16="http://schemas.microsoft.com/office/drawing/2014/main" id="{A3047A4A-5E88-462E-9DF5-A029C0D17439}"/>
              </a:ext>
            </a:extLst>
          </p:cNvPr>
          <p:cNvSpPr txBox="1"/>
          <p:nvPr/>
        </p:nvSpPr>
        <p:spPr>
          <a:xfrm>
            <a:off x="12685853" y="7674015"/>
            <a:ext cx="1944547" cy="555585"/>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7954" y="611267"/>
            <a:ext cx="10145911" cy="694730"/>
          </a:xfrm>
          <a:prstGeom prst="rect">
            <a:avLst/>
          </a:prstGeom>
          <a:noFill/>
          <a:ln/>
        </p:spPr>
        <p:txBody>
          <a:bodyPr wrap="none" lIns="0" tIns="0" rIns="0" bIns="0" rtlCol="0" anchor="t"/>
          <a:lstStyle/>
          <a:p>
            <a:pPr marL="0" indent="0" algn="l">
              <a:lnSpc>
                <a:spcPts val="5450"/>
              </a:lnSpc>
              <a:buNone/>
            </a:pPr>
            <a:r>
              <a:rPr lang="en-US" sz="4350" dirty="0">
                <a:solidFill>
                  <a:srgbClr val="201B18"/>
                </a:solidFill>
                <a:latin typeface="Platypi Medium" pitchFamily="34" charset="0"/>
                <a:ea typeface="Platypi Medium" pitchFamily="34" charset="-122"/>
                <a:cs typeface="Platypi Medium" pitchFamily="34" charset="-120"/>
              </a:rPr>
              <a:t>Personalized Crop Recommendations</a:t>
            </a:r>
            <a:endParaRPr lang="en-US" sz="4350" dirty="0"/>
          </a:p>
        </p:txBody>
      </p:sp>
      <p:pic>
        <p:nvPicPr>
          <p:cNvPr id="3" name="Image 0" descr="preencoded.png"/>
          <p:cNvPicPr>
            <a:picLocks noChangeAspect="1"/>
          </p:cNvPicPr>
          <p:nvPr/>
        </p:nvPicPr>
        <p:blipFill>
          <a:blip r:embed="rId3"/>
          <a:stretch>
            <a:fillRect/>
          </a:stretch>
        </p:blipFill>
        <p:spPr>
          <a:xfrm>
            <a:off x="777953" y="1889402"/>
            <a:ext cx="6409925" cy="3643551"/>
          </a:xfrm>
          <a:prstGeom prst="rect">
            <a:avLst/>
          </a:prstGeom>
        </p:spPr>
      </p:pic>
      <p:sp>
        <p:nvSpPr>
          <p:cNvPr id="4" name="Text 1"/>
          <p:cNvSpPr/>
          <p:nvPr/>
        </p:nvSpPr>
        <p:spPr>
          <a:xfrm>
            <a:off x="777954" y="5177314"/>
            <a:ext cx="6266140" cy="355640"/>
          </a:xfrm>
          <a:prstGeom prst="rect">
            <a:avLst/>
          </a:prstGeom>
          <a:noFill/>
          <a:ln/>
        </p:spPr>
        <p:txBody>
          <a:bodyPr wrap="none" lIns="0" tIns="0" rIns="0" bIns="0" rtlCol="0" anchor="t"/>
          <a:lstStyle/>
          <a:p>
            <a:pPr marL="0" indent="0" algn="l">
              <a:lnSpc>
                <a:spcPts val="2800"/>
              </a:lnSpc>
              <a:buNone/>
            </a:pPr>
            <a:endParaRPr lang="en-US" sz="1750" dirty="0"/>
          </a:p>
        </p:txBody>
      </p:sp>
      <p:sp>
        <p:nvSpPr>
          <p:cNvPr id="5" name="Text 2"/>
          <p:cNvSpPr/>
          <p:nvPr/>
        </p:nvSpPr>
        <p:spPr>
          <a:xfrm>
            <a:off x="7593925" y="1839397"/>
            <a:ext cx="6266140" cy="1422559"/>
          </a:xfrm>
          <a:prstGeom prst="rect">
            <a:avLst/>
          </a:prstGeom>
          <a:noFill/>
          <a:ln/>
        </p:spPr>
        <p:txBody>
          <a:bodyPr wrap="square" lIns="0" tIns="0" rIns="0" bIns="0" rtlCol="0" anchor="t"/>
          <a:lstStyle/>
          <a:p>
            <a:pPr marL="0" indent="0" algn="l">
              <a:lnSpc>
                <a:spcPts val="2800"/>
              </a:lnSpc>
              <a:buNone/>
            </a:pPr>
            <a:r>
              <a:rPr lang="en-US" sz="1750" dirty="0">
                <a:solidFill>
                  <a:srgbClr val="504C49"/>
                </a:solidFill>
                <a:latin typeface="Source Serif Pro" pitchFamily="34" charset="0"/>
                <a:ea typeface="Source Serif Pro" pitchFamily="34" charset="-122"/>
                <a:cs typeface="Source Serif Pro" pitchFamily="34" charset="-120"/>
              </a:rPr>
              <a:t>Receive customized advice based on your state’s climate, soil conditions, and farming challenges. AgriBotInsight supports all 29 Indian states with tailored cultivation strategies for diverse crops.</a:t>
            </a:r>
            <a:endParaRPr lang="en-US" sz="1750" dirty="0"/>
          </a:p>
        </p:txBody>
      </p:sp>
      <p:sp>
        <p:nvSpPr>
          <p:cNvPr id="6" name="Text 3"/>
          <p:cNvSpPr/>
          <p:nvPr/>
        </p:nvSpPr>
        <p:spPr>
          <a:xfrm>
            <a:off x="7593925" y="3461980"/>
            <a:ext cx="6266140" cy="1066919"/>
          </a:xfrm>
          <a:prstGeom prst="rect">
            <a:avLst/>
          </a:prstGeom>
          <a:noFill/>
          <a:ln/>
        </p:spPr>
        <p:txBody>
          <a:bodyPr wrap="square" lIns="0" tIns="0" rIns="0" bIns="0" rtlCol="0" anchor="t"/>
          <a:lstStyle/>
          <a:p>
            <a:pPr marL="0" indent="0" algn="l">
              <a:lnSpc>
                <a:spcPts val="2800"/>
              </a:lnSpc>
              <a:buNone/>
            </a:pPr>
            <a:r>
              <a:rPr lang="en-US" sz="1750" dirty="0">
                <a:solidFill>
                  <a:srgbClr val="504C49"/>
                </a:solidFill>
                <a:latin typeface="Source Serif Pro" pitchFamily="34" charset="0"/>
                <a:ea typeface="Source Serif Pro" pitchFamily="34" charset="-122"/>
                <a:cs typeface="Source Serif Pro" pitchFamily="34" charset="-120"/>
              </a:rPr>
              <a:t>Our system helps farmers optimize input use, select disease-resistant varieties, and adopt organic practices that improve overall farm resilience and profitability.</a:t>
            </a:r>
            <a:endParaRPr lang="en-US" sz="1750" dirty="0"/>
          </a:p>
        </p:txBody>
      </p:sp>
      <p:sp>
        <p:nvSpPr>
          <p:cNvPr id="7" name="Shape 4"/>
          <p:cNvSpPr/>
          <p:nvPr/>
        </p:nvSpPr>
        <p:spPr>
          <a:xfrm>
            <a:off x="777954" y="5983010"/>
            <a:ext cx="4209931" cy="1636514"/>
          </a:xfrm>
          <a:prstGeom prst="roundRect">
            <a:avLst>
              <a:gd name="adj" fmla="val 2038"/>
            </a:avLst>
          </a:prstGeom>
          <a:solidFill>
            <a:srgbClr val="F9F7F7"/>
          </a:solidFill>
          <a:ln/>
        </p:spPr>
      </p:sp>
      <p:sp>
        <p:nvSpPr>
          <p:cNvPr id="8" name="Text 5"/>
          <p:cNvSpPr/>
          <p:nvPr/>
        </p:nvSpPr>
        <p:spPr>
          <a:xfrm>
            <a:off x="1000244" y="6205299"/>
            <a:ext cx="3223022" cy="347305"/>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State-Specific Guidance</a:t>
            </a:r>
            <a:endParaRPr lang="en-US" sz="2150" dirty="0"/>
          </a:p>
        </p:txBody>
      </p:sp>
      <p:sp>
        <p:nvSpPr>
          <p:cNvPr id="9" name="Text 6"/>
          <p:cNvSpPr/>
          <p:nvPr/>
        </p:nvSpPr>
        <p:spPr>
          <a:xfrm>
            <a:off x="1000244" y="6685955"/>
            <a:ext cx="3765352" cy="711279"/>
          </a:xfrm>
          <a:prstGeom prst="rect">
            <a:avLst/>
          </a:prstGeom>
          <a:noFill/>
          <a:ln/>
        </p:spPr>
        <p:txBody>
          <a:bodyPr wrap="square" lIns="0" tIns="0" rIns="0" bIns="0" rtlCol="0" anchor="t"/>
          <a:lstStyle/>
          <a:p>
            <a:pPr marL="0" indent="0" algn="l">
              <a:lnSpc>
                <a:spcPts val="2800"/>
              </a:lnSpc>
              <a:buNone/>
            </a:pPr>
            <a:r>
              <a:rPr lang="en-US" sz="1750" dirty="0">
                <a:solidFill>
                  <a:srgbClr val="504C49"/>
                </a:solidFill>
                <a:latin typeface="Source Serif Pro" pitchFamily="34" charset="0"/>
                <a:ea typeface="Source Serif Pro" pitchFamily="34" charset="-122"/>
                <a:cs typeface="Source Serif Pro" pitchFamily="34" charset="-120"/>
              </a:rPr>
              <a:t>Recommendations based on local agro-climatic data</a:t>
            </a:r>
            <a:endParaRPr lang="en-US" sz="1750" dirty="0"/>
          </a:p>
        </p:txBody>
      </p:sp>
      <p:sp>
        <p:nvSpPr>
          <p:cNvPr id="10" name="Shape 7"/>
          <p:cNvSpPr/>
          <p:nvPr/>
        </p:nvSpPr>
        <p:spPr>
          <a:xfrm>
            <a:off x="5210175" y="5983010"/>
            <a:ext cx="4209931" cy="1636514"/>
          </a:xfrm>
          <a:prstGeom prst="roundRect">
            <a:avLst>
              <a:gd name="adj" fmla="val 2038"/>
            </a:avLst>
          </a:prstGeom>
          <a:solidFill>
            <a:srgbClr val="F9F7F7"/>
          </a:solidFill>
          <a:ln/>
        </p:spPr>
      </p:sp>
      <p:sp>
        <p:nvSpPr>
          <p:cNvPr id="11" name="Text 8"/>
          <p:cNvSpPr/>
          <p:nvPr/>
        </p:nvSpPr>
        <p:spPr>
          <a:xfrm>
            <a:off x="5432465" y="6205299"/>
            <a:ext cx="2918103" cy="347305"/>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Disease Management</a:t>
            </a:r>
            <a:endParaRPr lang="en-US" sz="2150" dirty="0"/>
          </a:p>
        </p:txBody>
      </p:sp>
      <p:sp>
        <p:nvSpPr>
          <p:cNvPr id="12" name="Text 9"/>
          <p:cNvSpPr/>
          <p:nvPr/>
        </p:nvSpPr>
        <p:spPr>
          <a:xfrm>
            <a:off x="5432465" y="6685955"/>
            <a:ext cx="3765352" cy="711279"/>
          </a:xfrm>
          <a:prstGeom prst="rect">
            <a:avLst/>
          </a:prstGeom>
          <a:noFill/>
          <a:ln/>
        </p:spPr>
        <p:txBody>
          <a:bodyPr wrap="square" lIns="0" tIns="0" rIns="0" bIns="0" rtlCol="0" anchor="t"/>
          <a:lstStyle/>
          <a:p>
            <a:pPr marL="0" indent="0" algn="l">
              <a:lnSpc>
                <a:spcPts val="2800"/>
              </a:lnSpc>
              <a:buNone/>
            </a:pPr>
            <a:r>
              <a:rPr lang="en-US" sz="1750" dirty="0">
                <a:solidFill>
                  <a:srgbClr val="504C49"/>
                </a:solidFill>
                <a:latin typeface="Source Serif Pro" pitchFamily="34" charset="0"/>
                <a:ea typeface="Source Serif Pro" pitchFamily="34" charset="-122"/>
                <a:cs typeface="Source Serif Pro" pitchFamily="34" charset="-120"/>
              </a:rPr>
              <a:t>Effective control methods for common crop diseases</a:t>
            </a:r>
            <a:endParaRPr lang="en-US" sz="1750" dirty="0"/>
          </a:p>
        </p:txBody>
      </p:sp>
      <p:sp>
        <p:nvSpPr>
          <p:cNvPr id="13" name="Shape 10"/>
          <p:cNvSpPr/>
          <p:nvPr/>
        </p:nvSpPr>
        <p:spPr>
          <a:xfrm>
            <a:off x="9642396" y="5983010"/>
            <a:ext cx="4209931" cy="1636514"/>
          </a:xfrm>
          <a:prstGeom prst="roundRect">
            <a:avLst>
              <a:gd name="adj" fmla="val 2038"/>
            </a:avLst>
          </a:prstGeom>
          <a:solidFill>
            <a:srgbClr val="F9F7F7"/>
          </a:solidFill>
          <a:ln/>
        </p:spPr>
      </p:sp>
      <p:sp>
        <p:nvSpPr>
          <p:cNvPr id="14" name="Text 11"/>
          <p:cNvSpPr/>
          <p:nvPr/>
        </p:nvSpPr>
        <p:spPr>
          <a:xfrm>
            <a:off x="9864685" y="6205299"/>
            <a:ext cx="2778681" cy="347305"/>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Organic Practices</a:t>
            </a:r>
            <a:endParaRPr lang="en-US" sz="2150" dirty="0"/>
          </a:p>
        </p:txBody>
      </p:sp>
      <p:sp>
        <p:nvSpPr>
          <p:cNvPr id="15" name="Text 12"/>
          <p:cNvSpPr/>
          <p:nvPr/>
        </p:nvSpPr>
        <p:spPr>
          <a:xfrm>
            <a:off x="9864685" y="6685955"/>
            <a:ext cx="3765352" cy="711279"/>
          </a:xfrm>
          <a:prstGeom prst="rect">
            <a:avLst/>
          </a:prstGeom>
          <a:noFill/>
          <a:ln/>
        </p:spPr>
        <p:txBody>
          <a:bodyPr wrap="square" lIns="0" tIns="0" rIns="0" bIns="0" rtlCol="0" anchor="t"/>
          <a:lstStyle/>
          <a:p>
            <a:pPr marL="0" indent="0" algn="l">
              <a:lnSpc>
                <a:spcPts val="2800"/>
              </a:lnSpc>
              <a:buNone/>
            </a:pPr>
            <a:r>
              <a:rPr lang="en-US" sz="1750" dirty="0">
                <a:solidFill>
                  <a:srgbClr val="504C49"/>
                </a:solidFill>
                <a:latin typeface="Source Serif Pro" pitchFamily="34" charset="0"/>
                <a:ea typeface="Source Serif Pro" pitchFamily="34" charset="-122"/>
                <a:cs typeface="Source Serif Pro" pitchFamily="34" charset="-120"/>
              </a:rPr>
              <a:t>Sustainable farming techniques for healthier soil</a:t>
            </a:r>
            <a:endParaRPr lang="en-US" sz="1750" dirty="0"/>
          </a:p>
        </p:txBody>
      </p:sp>
      <p:sp>
        <p:nvSpPr>
          <p:cNvPr id="16" name="TextBox 15">
            <a:extLst>
              <a:ext uri="{FF2B5EF4-FFF2-40B4-BE49-F238E27FC236}">
                <a16:creationId xmlns:a16="http://schemas.microsoft.com/office/drawing/2014/main" id="{4D5FD6F6-3F5E-4A98-83C5-70537022047A}"/>
              </a:ext>
            </a:extLst>
          </p:cNvPr>
          <p:cNvSpPr txBox="1"/>
          <p:nvPr/>
        </p:nvSpPr>
        <p:spPr>
          <a:xfrm>
            <a:off x="12824749" y="7752875"/>
            <a:ext cx="1805651" cy="476725"/>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4968" y="546021"/>
            <a:ext cx="11377851" cy="620554"/>
          </a:xfrm>
          <a:prstGeom prst="rect">
            <a:avLst/>
          </a:prstGeom>
          <a:noFill/>
          <a:ln/>
        </p:spPr>
        <p:txBody>
          <a:bodyPr wrap="non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Market Intelligence and Knowledge Repository</a:t>
            </a:r>
            <a:endParaRPr lang="en-US" sz="3900" dirty="0"/>
          </a:p>
        </p:txBody>
      </p:sp>
      <p:sp>
        <p:nvSpPr>
          <p:cNvPr id="3" name="Text 1"/>
          <p:cNvSpPr/>
          <p:nvPr/>
        </p:nvSpPr>
        <p:spPr>
          <a:xfrm>
            <a:off x="694968" y="1563648"/>
            <a:ext cx="13240464" cy="635318"/>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Stay informed with up-to-date market prices from key agricultural mandis across India. Our platform provides trend analysis helping you decide the best time to sell your produce for maximum returns.</a:t>
            </a:r>
            <a:endParaRPr lang="en-US" sz="1550" dirty="0"/>
          </a:p>
        </p:txBody>
      </p:sp>
      <p:sp>
        <p:nvSpPr>
          <p:cNvPr id="4" name="Text 2"/>
          <p:cNvSpPr/>
          <p:nvPr/>
        </p:nvSpPr>
        <p:spPr>
          <a:xfrm>
            <a:off x="694968" y="2422327"/>
            <a:ext cx="13240464" cy="317659"/>
          </a:xfrm>
          <a:prstGeom prst="rect">
            <a:avLst/>
          </a:prstGeom>
          <a:noFill/>
          <a:ln/>
        </p:spPr>
        <p:txBody>
          <a:bodyPr wrap="non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Additionally, explore real farmer stories and sustainable techniques curated to inspire and educate Indian farmers in improving productivity.</a:t>
            </a:r>
            <a:endParaRPr lang="en-US" sz="1550" dirty="0"/>
          </a:p>
        </p:txBody>
      </p:sp>
      <p:sp>
        <p:nvSpPr>
          <p:cNvPr id="5" name="Text 3"/>
          <p:cNvSpPr/>
          <p:nvPr/>
        </p:nvSpPr>
        <p:spPr>
          <a:xfrm>
            <a:off x="694968" y="3161824"/>
            <a:ext cx="2482334" cy="310277"/>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Market Trends</a:t>
            </a:r>
            <a:endParaRPr lang="en-US" sz="1950" dirty="0"/>
          </a:p>
        </p:txBody>
      </p:sp>
      <p:sp>
        <p:nvSpPr>
          <p:cNvPr id="6" name="Text 4"/>
          <p:cNvSpPr/>
          <p:nvPr/>
        </p:nvSpPr>
        <p:spPr>
          <a:xfrm>
            <a:off x="694968" y="3670578"/>
            <a:ext cx="6378059" cy="317659"/>
          </a:xfrm>
          <a:prstGeom prst="rect">
            <a:avLst/>
          </a:prstGeom>
          <a:noFill/>
          <a:ln/>
        </p:spPr>
        <p:txBody>
          <a:bodyPr wrap="non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Price updates and demand forecasts for major crops</a:t>
            </a:r>
            <a:endParaRPr lang="en-US" sz="1550" dirty="0"/>
          </a:p>
        </p:txBody>
      </p:sp>
      <p:sp>
        <p:nvSpPr>
          <p:cNvPr id="7" name="Text 5"/>
          <p:cNvSpPr/>
          <p:nvPr/>
        </p:nvSpPr>
        <p:spPr>
          <a:xfrm>
            <a:off x="7564993" y="3161824"/>
            <a:ext cx="2482334" cy="310277"/>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Learning Resources</a:t>
            </a:r>
            <a:endParaRPr lang="en-US" sz="1950" dirty="0"/>
          </a:p>
        </p:txBody>
      </p:sp>
      <p:sp>
        <p:nvSpPr>
          <p:cNvPr id="8" name="Text 6"/>
          <p:cNvSpPr/>
          <p:nvPr/>
        </p:nvSpPr>
        <p:spPr>
          <a:xfrm>
            <a:off x="7564993" y="3670578"/>
            <a:ext cx="6378059" cy="317659"/>
          </a:xfrm>
          <a:prstGeom prst="rect">
            <a:avLst/>
          </a:prstGeom>
          <a:noFill/>
          <a:ln/>
        </p:spPr>
        <p:txBody>
          <a:bodyPr wrap="non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Success stories and best practices from Indian farmers</a:t>
            </a:r>
            <a:endParaRPr lang="en-US" sz="1550" dirty="0"/>
          </a:p>
        </p:txBody>
      </p:sp>
      <p:pic>
        <p:nvPicPr>
          <p:cNvPr id="11" name="Picture 10">
            <a:extLst>
              <a:ext uri="{FF2B5EF4-FFF2-40B4-BE49-F238E27FC236}">
                <a16:creationId xmlns:a16="http://schemas.microsoft.com/office/drawing/2014/main" id="{2BA25246-DAFD-4727-B04C-A020915062AC}"/>
              </a:ext>
            </a:extLst>
          </p:cNvPr>
          <p:cNvPicPr>
            <a:picLocks noChangeAspect="1"/>
          </p:cNvPicPr>
          <p:nvPr/>
        </p:nvPicPr>
        <p:blipFill>
          <a:blip r:embed="rId3"/>
          <a:stretch>
            <a:fillRect/>
          </a:stretch>
        </p:blipFill>
        <p:spPr>
          <a:xfrm>
            <a:off x="694967" y="4211598"/>
            <a:ext cx="13240465" cy="3728635"/>
          </a:xfrm>
          <a:prstGeom prst="rect">
            <a:avLst/>
          </a:prstGeom>
        </p:spPr>
      </p:pic>
      <p:sp>
        <p:nvSpPr>
          <p:cNvPr id="12" name="TextBox 11">
            <a:extLst>
              <a:ext uri="{FF2B5EF4-FFF2-40B4-BE49-F238E27FC236}">
                <a16:creationId xmlns:a16="http://schemas.microsoft.com/office/drawing/2014/main" id="{870A57CA-E9E0-40EC-85B5-B9D228EC581A}"/>
              </a:ext>
            </a:extLst>
          </p:cNvPr>
          <p:cNvSpPr txBox="1"/>
          <p:nvPr/>
        </p:nvSpPr>
        <p:spPr>
          <a:xfrm>
            <a:off x="12801600" y="7731889"/>
            <a:ext cx="1828800" cy="497711"/>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3652" y="505658"/>
            <a:ext cx="4597837" cy="574715"/>
          </a:xfrm>
          <a:prstGeom prst="rect">
            <a:avLst/>
          </a:prstGeom>
          <a:noFill/>
          <a:ln/>
        </p:spPr>
        <p:txBody>
          <a:bodyPr wrap="none" lIns="0" tIns="0" rIns="0" bIns="0" rtlCol="0" anchor="t"/>
          <a:lstStyle/>
          <a:p>
            <a:pPr marL="0" indent="0" algn="l">
              <a:lnSpc>
                <a:spcPts val="4500"/>
              </a:lnSpc>
              <a:buNone/>
            </a:pPr>
            <a:r>
              <a:rPr lang="en-US" sz="3600" dirty="0">
                <a:solidFill>
                  <a:srgbClr val="201B18"/>
                </a:solidFill>
                <a:latin typeface="Platypi Medium" pitchFamily="34" charset="0"/>
                <a:ea typeface="Platypi Medium" pitchFamily="34" charset="-122"/>
                <a:cs typeface="Platypi Medium" pitchFamily="34" charset="-120"/>
              </a:rPr>
              <a:t>How to Get Started</a:t>
            </a:r>
            <a:endParaRPr lang="en-US" sz="3600" dirty="0"/>
          </a:p>
        </p:txBody>
      </p:sp>
      <p:sp>
        <p:nvSpPr>
          <p:cNvPr id="3" name="Text 1"/>
          <p:cNvSpPr/>
          <p:nvPr/>
        </p:nvSpPr>
        <p:spPr>
          <a:xfrm>
            <a:off x="643652" y="1521738"/>
            <a:ext cx="6447234" cy="588645"/>
          </a:xfrm>
          <a:prstGeom prst="rect">
            <a:avLst/>
          </a:prstGeom>
          <a:noFill/>
          <a:ln/>
        </p:spPr>
        <p:txBody>
          <a:bodyPr wrap="square" lIns="0" tIns="0" rIns="0" bIns="0" rtlCol="0" anchor="t"/>
          <a:lstStyle/>
          <a:p>
            <a:pPr marL="0" indent="0" algn="l">
              <a:lnSpc>
                <a:spcPts val="2300"/>
              </a:lnSpc>
              <a:buNone/>
            </a:pPr>
            <a:r>
              <a:rPr lang="en-US" sz="1600" dirty="0">
                <a:solidFill>
                  <a:srgbClr val="504C49"/>
                </a:solidFill>
                <a:latin typeface="Source Serif Pro" pitchFamily="34" charset="0"/>
                <a:ea typeface="Source Serif Pro" pitchFamily="34" charset="-122"/>
                <a:cs typeface="Source Serif Pro" pitchFamily="34" charset="-120"/>
              </a:rPr>
              <a:t>Create your account to save your preferences and unlock personalized advice tailored to your farming location and crop choices.</a:t>
            </a:r>
            <a:endParaRPr lang="en-US" sz="1600" dirty="0"/>
          </a:p>
        </p:txBody>
      </p:sp>
      <p:sp>
        <p:nvSpPr>
          <p:cNvPr id="4" name="Text 2"/>
          <p:cNvSpPr/>
          <p:nvPr/>
        </p:nvSpPr>
        <p:spPr>
          <a:xfrm>
            <a:off x="643652" y="2275880"/>
            <a:ext cx="6447234" cy="882968"/>
          </a:xfrm>
          <a:prstGeom prst="rect">
            <a:avLst/>
          </a:prstGeom>
          <a:noFill/>
          <a:ln/>
        </p:spPr>
        <p:txBody>
          <a:bodyPr wrap="square" lIns="0" tIns="0" rIns="0" bIns="0" rtlCol="0" anchor="t"/>
          <a:lstStyle/>
          <a:p>
            <a:pPr marL="0" indent="0" algn="l">
              <a:lnSpc>
                <a:spcPts val="2300"/>
              </a:lnSpc>
              <a:buNone/>
            </a:pPr>
            <a:r>
              <a:rPr lang="en-US" sz="1600" dirty="0">
                <a:solidFill>
                  <a:srgbClr val="504C49"/>
                </a:solidFill>
                <a:latin typeface="Source Serif Pro" pitchFamily="34" charset="0"/>
                <a:ea typeface="Source Serif Pro" pitchFamily="34" charset="-122"/>
                <a:cs typeface="Source Serif Pro" pitchFamily="34" charset="-120"/>
              </a:rPr>
              <a:t>Explore regional insights specific to your state and use the chat assistant to ask detailed agriculture-related questions. Check the crop calendar for the best planting and harvesting times</a:t>
            </a:r>
            <a:r>
              <a:rPr lang="en-US" sz="1400" dirty="0">
                <a:solidFill>
                  <a:srgbClr val="504C49"/>
                </a:solidFill>
                <a:latin typeface="Source Serif Pro" pitchFamily="34" charset="0"/>
                <a:ea typeface="Source Serif Pro" pitchFamily="34" charset="-122"/>
                <a:cs typeface="Source Serif Pro" pitchFamily="34" charset="-120"/>
              </a:rPr>
              <a:t>.</a:t>
            </a:r>
            <a:endParaRPr lang="en-US" sz="1400" dirty="0"/>
          </a:p>
        </p:txBody>
      </p:sp>
      <p:sp>
        <p:nvSpPr>
          <p:cNvPr id="5" name="Text 3"/>
          <p:cNvSpPr/>
          <p:nvPr/>
        </p:nvSpPr>
        <p:spPr>
          <a:xfrm>
            <a:off x="643652" y="3324344"/>
            <a:ext cx="6447234" cy="294323"/>
          </a:xfrm>
          <a:prstGeom prst="rect">
            <a:avLst/>
          </a:prstGeom>
          <a:noFill/>
          <a:ln/>
        </p:spPr>
        <p:txBody>
          <a:bodyPr wrap="none" lIns="0" tIns="0" rIns="0" bIns="0" rtlCol="0" anchor="t"/>
          <a:lstStyle/>
          <a:p>
            <a:pPr marL="342900" indent="-342900" algn="l">
              <a:lnSpc>
                <a:spcPts val="2300"/>
              </a:lnSpc>
              <a:buSzPct val="100000"/>
              <a:buFont typeface="+mj-lt"/>
              <a:buAutoNum type="arabicPeriod"/>
            </a:pPr>
            <a:r>
              <a:rPr lang="en-US" sz="1600" dirty="0">
                <a:solidFill>
                  <a:srgbClr val="504C49"/>
                </a:solidFill>
                <a:latin typeface="Source Serif Pro" pitchFamily="34" charset="0"/>
                <a:ea typeface="Source Serif Pro" pitchFamily="34" charset="-122"/>
                <a:cs typeface="Source Serif Pro" pitchFamily="34" charset="-120"/>
              </a:rPr>
              <a:t>Create an account for personalized recommendations</a:t>
            </a:r>
            <a:endParaRPr lang="en-US" sz="1600" dirty="0"/>
          </a:p>
        </p:txBody>
      </p:sp>
      <p:sp>
        <p:nvSpPr>
          <p:cNvPr id="6" name="Text 4"/>
          <p:cNvSpPr/>
          <p:nvPr/>
        </p:nvSpPr>
        <p:spPr>
          <a:xfrm>
            <a:off x="643652" y="3682960"/>
            <a:ext cx="6447234" cy="294323"/>
          </a:xfrm>
          <a:prstGeom prst="rect">
            <a:avLst/>
          </a:prstGeom>
          <a:noFill/>
          <a:ln/>
        </p:spPr>
        <p:txBody>
          <a:bodyPr wrap="none" lIns="0" tIns="0" rIns="0" bIns="0" rtlCol="0" anchor="t"/>
          <a:lstStyle/>
          <a:p>
            <a:pPr marL="342900" indent="-342900" algn="l">
              <a:lnSpc>
                <a:spcPts val="2300"/>
              </a:lnSpc>
              <a:buSzPct val="100000"/>
              <a:buFont typeface="+mj-lt"/>
              <a:buAutoNum type="arabicPeriod" startAt="2"/>
            </a:pPr>
            <a:r>
              <a:rPr lang="en-US" sz="1600" dirty="0">
                <a:solidFill>
                  <a:srgbClr val="504C49"/>
                </a:solidFill>
                <a:latin typeface="Source Serif Pro" pitchFamily="34" charset="0"/>
                <a:ea typeface="Source Serif Pro" pitchFamily="34" charset="-122"/>
                <a:cs typeface="Source Serif Pro" pitchFamily="34" charset="-120"/>
              </a:rPr>
              <a:t>Use chat assistant for quick agricultural advice</a:t>
            </a:r>
            <a:endParaRPr lang="en-US" sz="1600" dirty="0"/>
          </a:p>
        </p:txBody>
      </p:sp>
      <p:sp>
        <p:nvSpPr>
          <p:cNvPr id="7" name="Text 5"/>
          <p:cNvSpPr/>
          <p:nvPr/>
        </p:nvSpPr>
        <p:spPr>
          <a:xfrm>
            <a:off x="643652" y="4041577"/>
            <a:ext cx="6447234" cy="294323"/>
          </a:xfrm>
          <a:prstGeom prst="rect">
            <a:avLst/>
          </a:prstGeom>
          <a:noFill/>
          <a:ln/>
        </p:spPr>
        <p:txBody>
          <a:bodyPr wrap="none" lIns="0" tIns="0" rIns="0" bIns="0" rtlCol="0" anchor="t"/>
          <a:lstStyle/>
          <a:p>
            <a:pPr marL="342900" indent="-342900" algn="l">
              <a:lnSpc>
                <a:spcPts val="2300"/>
              </a:lnSpc>
              <a:buSzPct val="100000"/>
              <a:buFont typeface="+mj-lt"/>
              <a:buAutoNum type="arabicPeriod" startAt="3"/>
            </a:pPr>
            <a:r>
              <a:rPr lang="en-US" sz="1600" dirty="0">
                <a:solidFill>
                  <a:srgbClr val="504C49"/>
                </a:solidFill>
                <a:latin typeface="Source Serif Pro" pitchFamily="34" charset="0"/>
                <a:ea typeface="Source Serif Pro" pitchFamily="34" charset="-122"/>
                <a:cs typeface="Source Serif Pro" pitchFamily="34" charset="-120"/>
              </a:rPr>
              <a:t>Explore regional insights for your state</a:t>
            </a:r>
            <a:endParaRPr lang="en-US" sz="1600" dirty="0"/>
          </a:p>
        </p:txBody>
      </p:sp>
      <p:sp>
        <p:nvSpPr>
          <p:cNvPr id="8" name="Text 6"/>
          <p:cNvSpPr/>
          <p:nvPr/>
        </p:nvSpPr>
        <p:spPr>
          <a:xfrm>
            <a:off x="643652" y="4458066"/>
            <a:ext cx="6447234" cy="294323"/>
          </a:xfrm>
          <a:prstGeom prst="rect">
            <a:avLst/>
          </a:prstGeom>
          <a:noFill/>
          <a:ln/>
        </p:spPr>
        <p:txBody>
          <a:bodyPr wrap="none" lIns="0" tIns="0" rIns="0" bIns="0" rtlCol="0" anchor="t"/>
          <a:lstStyle/>
          <a:p>
            <a:pPr marL="342900" indent="-342900" algn="l">
              <a:lnSpc>
                <a:spcPts val="2300"/>
              </a:lnSpc>
              <a:buSzPct val="100000"/>
              <a:buFont typeface="+mj-lt"/>
              <a:buAutoNum type="arabicPeriod" startAt="4"/>
            </a:pPr>
            <a:r>
              <a:rPr lang="en-US" sz="1600" dirty="0">
                <a:solidFill>
                  <a:srgbClr val="504C49"/>
                </a:solidFill>
                <a:latin typeface="Source Serif Pro" pitchFamily="34" charset="0"/>
                <a:ea typeface="Source Serif Pro" pitchFamily="34" charset="-122"/>
                <a:cs typeface="Source Serif Pro" pitchFamily="34" charset="-120"/>
              </a:rPr>
              <a:t>Refer to the crop calendar for scheduling</a:t>
            </a:r>
            <a:endParaRPr lang="en-US" sz="1600" dirty="0"/>
          </a:p>
        </p:txBody>
      </p:sp>
      <p:pic>
        <p:nvPicPr>
          <p:cNvPr id="9" name="Image 0" descr="preencoded.png"/>
          <p:cNvPicPr>
            <a:picLocks noChangeAspect="1"/>
          </p:cNvPicPr>
          <p:nvPr/>
        </p:nvPicPr>
        <p:blipFill>
          <a:blip r:embed="rId3"/>
          <a:stretch>
            <a:fillRect/>
          </a:stretch>
        </p:blipFill>
        <p:spPr>
          <a:xfrm>
            <a:off x="7547134" y="494043"/>
            <a:ext cx="5659580" cy="7066545"/>
          </a:xfrm>
          <a:prstGeom prst="rect">
            <a:avLst/>
          </a:prstGeom>
        </p:spPr>
      </p:pic>
      <p:sp>
        <p:nvSpPr>
          <p:cNvPr id="10" name="Text 7"/>
          <p:cNvSpPr/>
          <p:nvPr/>
        </p:nvSpPr>
        <p:spPr>
          <a:xfrm>
            <a:off x="7547134" y="7266265"/>
            <a:ext cx="6447234" cy="294323"/>
          </a:xfrm>
          <a:prstGeom prst="rect">
            <a:avLst/>
          </a:prstGeom>
          <a:noFill/>
          <a:ln/>
        </p:spPr>
        <p:txBody>
          <a:bodyPr wrap="none" lIns="0" tIns="0" rIns="0" bIns="0" rtlCol="0" anchor="t"/>
          <a:lstStyle/>
          <a:p>
            <a:pPr marL="0" indent="0" algn="l">
              <a:lnSpc>
                <a:spcPts val="2300"/>
              </a:lnSpc>
              <a:buNone/>
            </a:pPr>
            <a:endParaRPr lang="en-US" sz="1400" dirty="0"/>
          </a:p>
        </p:txBody>
      </p:sp>
      <p:sp>
        <p:nvSpPr>
          <p:cNvPr id="11" name="TextBox 10">
            <a:extLst>
              <a:ext uri="{FF2B5EF4-FFF2-40B4-BE49-F238E27FC236}">
                <a16:creationId xmlns:a16="http://schemas.microsoft.com/office/drawing/2014/main" id="{C1F07846-B303-4CFC-970F-47B4C9F13F78}"/>
              </a:ext>
            </a:extLst>
          </p:cNvPr>
          <p:cNvSpPr txBox="1"/>
          <p:nvPr/>
        </p:nvSpPr>
        <p:spPr>
          <a:xfrm>
            <a:off x="12709003" y="7735557"/>
            <a:ext cx="1921397" cy="494043"/>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64206"/>
            <a:ext cx="10068401"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Data-Driven &amp; Personalized Insights</a:t>
            </a:r>
            <a:endParaRPr lang="en-US" sz="4450" dirty="0"/>
          </a:p>
        </p:txBody>
      </p:sp>
      <p:sp>
        <p:nvSpPr>
          <p:cNvPr id="3" name="Text 1"/>
          <p:cNvSpPr/>
          <p:nvPr/>
        </p:nvSpPr>
        <p:spPr>
          <a:xfrm>
            <a:off x="793790" y="242661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AgriBotInsight offers real-time market prices, weather-based crop advice, soil-matching recommendations, and cost-effective equipment suggestions to enhance your farming efficiency.</a:t>
            </a:r>
            <a:endParaRPr lang="en-US" sz="1750" dirty="0"/>
          </a:p>
        </p:txBody>
      </p:sp>
      <p:sp>
        <p:nvSpPr>
          <p:cNvPr id="4" name="Text 2"/>
          <p:cNvSpPr/>
          <p:nvPr/>
        </p:nvSpPr>
        <p:spPr>
          <a:xfrm>
            <a:off x="793790" y="340756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Personalized insights include crop comparisons, government scheme information by state, seasonal advisories, and ROI analysis to help you invest wisely in your agricultural activities.</a:t>
            </a:r>
            <a:endParaRPr lang="en-US" sz="1750" dirty="0"/>
          </a:p>
        </p:txBody>
      </p:sp>
      <p:sp>
        <p:nvSpPr>
          <p:cNvPr id="5" name="Text 3"/>
          <p:cNvSpPr/>
          <p:nvPr/>
        </p:nvSpPr>
        <p:spPr>
          <a:xfrm>
            <a:off x="793790" y="4615339"/>
            <a:ext cx="2947987"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Data-Driven Features</a:t>
            </a:r>
            <a:endParaRPr lang="en-US" sz="2200" dirty="0"/>
          </a:p>
        </p:txBody>
      </p:sp>
      <p:sp>
        <p:nvSpPr>
          <p:cNvPr id="6" name="Text 4"/>
          <p:cNvSpPr/>
          <p:nvPr/>
        </p:nvSpPr>
        <p:spPr>
          <a:xfrm>
            <a:off x="793790" y="51964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Real-time market prices from agricultural mandis</a:t>
            </a:r>
            <a:endParaRPr lang="en-US" sz="1750" dirty="0"/>
          </a:p>
        </p:txBody>
      </p:sp>
      <p:sp>
        <p:nvSpPr>
          <p:cNvPr id="7" name="Text 5"/>
          <p:cNvSpPr/>
          <p:nvPr/>
        </p:nvSpPr>
        <p:spPr>
          <a:xfrm>
            <a:off x="793790" y="563868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Weather-based crop recommendations</a:t>
            </a:r>
            <a:endParaRPr lang="en-US" sz="1750" dirty="0"/>
          </a:p>
        </p:txBody>
      </p:sp>
      <p:sp>
        <p:nvSpPr>
          <p:cNvPr id="8" name="Text 6"/>
          <p:cNvSpPr/>
          <p:nvPr/>
        </p:nvSpPr>
        <p:spPr>
          <a:xfrm>
            <a:off x="793790" y="608087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Soil type matching for optimal crop choices</a:t>
            </a:r>
            <a:endParaRPr lang="en-US" sz="1750" dirty="0"/>
          </a:p>
        </p:txBody>
      </p:sp>
      <p:sp>
        <p:nvSpPr>
          <p:cNvPr id="9" name="Text 7"/>
          <p:cNvSpPr/>
          <p:nvPr/>
        </p:nvSpPr>
        <p:spPr>
          <a:xfrm>
            <a:off x="793790" y="652307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Equipment suggestions with cost estimates</a:t>
            </a:r>
            <a:endParaRPr lang="en-US" sz="1750" dirty="0"/>
          </a:p>
        </p:txBody>
      </p:sp>
      <p:sp>
        <p:nvSpPr>
          <p:cNvPr id="10" name="Text 8"/>
          <p:cNvSpPr/>
          <p:nvPr/>
        </p:nvSpPr>
        <p:spPr>
          <a:xfrm>
            <a:off x="7599521" y="4615339"/>
            <a:ext cx="2969181"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Personalized Insights</a:t>
            </a:r>
            <a:endParaRPr lang="en-US" sz="2200" dirty="0"/>
          </a:p>
        </p:txBody>
      </p:sp>
      <p:sp>
        <p:nvSpPr>
          <p:cNvPr id="11" name="Text 9"/>
          <p:cNvSpPr/>
          <p:nvPr/>
        </p:nvSpPr>
        <p:spPr>
          <a:xfrm>
            <a:off x="7599521" y="51964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Crop comparison tools for planning</a:t>
            </a:r>
            <a:endParaRPr lang="en-US" sz="1750" dirty="0"/>
          </a:p>
        </p:txBody>
      </p:sp>
      <p:sp>
        <p:nvSpPr>
          <p:cNvPr id="12" name="Text 10"/>
          <p:cNvSpPr/>
          <p:nvPr/>
        </p:nvSpPr>
        <p:spPr>
          <a:xfrm>
            <a:off x="7599521" y="563868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State-specific government schemes</a:t>
            </a:r>
            <a:endParaRPr lang="en-US" sz="1750" dirty="0"/>
          </a:p>
        </p:txBody>
      </p:sp>
      <p:sp>
        <p:nvSpPr>
          <p:cNvPr id="13" name="Text 11"/>
          <p:cNvSpPr/>
          <p:nvPr/>
        </p:nvSpPr>
        <p:spPr>
          <a:xfrm>
            <a:off x="7599521" y="608087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Seasonal advisories tailored to local history</a:t>
            </a:r>
            <a:endParaRPr lang="en-US" sz="1750" dirty="0"/>
          </a:p>
        </p:txBody>
      </p:sp>
      <p:sp>
        <p:nvSpPr>
          <p:cNvPr id="14" name="Text 12"/>
          <p:cNvSpPr/>
          <p:nvPr/>
        </p:nvSpPr>
        <p:spPr>
          <a:xfrm>
            <a:off x="7599521" y="652307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ROI analysis for informed investments</a:t>
            </a:r>
            <a:endParaRPr lang="en-US" sz="1750" dirty="0"/>
          </a:p>
        </p:txBody>
      </p:sp>
      <p:sp>
        <p:nvSpPr>
          <p:cNvPr id="15" name="TextBox 14">
            <a:extLst>
              <a:ext uri="{FF2B5EF4-FFF2-40B4-BE49-F238E27FC236}">
                <a16:creationId xmlns:a16="http://schemas.microsoft.com/office/drawing/2014/main" id="{AC55BAA6-BC55-41C4-B5E5-2CB86D83C6D7}"/>
              </a:ext>
            </a:extLst>
          </p:cNvPr>
          <p:cNvSpPr txBox="1"/>
          <p:nvPr/>
        </p:nvSpPr>
        <p:spPr>
          <a:xfrm>
            <a:off x="12813175" y="7603451"/>
            <a:ext cx="1817225" cy="62614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991791"/>
            <a:ext cx="12835176"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Robust Backend Infrastructure with Supabase</a:t>
            </a:r>
            <a:endParaRPr lang="en-US" sz="4450" dirty="0"/>
          </a:p>
        </p:txBody>
      </p:sp>
      <p:sp>
        <p:nvSpPr>
          <p:cNvPr id="3" name="Text 1"/>
          <p:cNvSpPr/>
          <p:nvPr/>
        </p:nvSpPr>
        <p:spPr>
          <a:xfrm>
            <a:off x="793790" y="2120027"/>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It stores and serves structured crop data, market prices, weather insights, and regional advisories.</a:t>
            </a:r>
            <a:endParaRPr lang="en-US" sz="1750" dirty="0"/>
          </a:p>
        </p:txBody>
      </p:sp>
      <p:sp>
        <p:nvSpPr>
          <p:cNvPr id="4" name="Text 2"/>
          <p:cNvSpPr/>
          <p:nvPr/>
        </p:nvSpPr>
        <p:spPr>
          <a:xfrm>
            <a:off x="793790" y="292512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Supabase’s PostgreSQL foundation ensures high scalability, data integrity, and fast queries.</a:t>
            </a:r>
            <a:endParaRPr lang="en-US" sz="1750" dirty="0"/>
          </a:p>
        </p:txBody>
      </p:sp>
      <p:sp>
        <p:nvSpPr>
          <p:cNvPr id="5" name="Text 3"/>
          <p:cNvSpPr/>
          <p:nvPr/>
        </p:nvSpPr>
        <p:spPr>
          <a:xfrm>
            <a:off x="793790" y="373022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Pro" pitchFamily="34" charset="0"/>
                <a:ea typeface="Source Serif Pro" pitchFamily="34" charset="-122"/>
                <a:cs typeface="Source Serif Pro" pitchFamily="34" charset="-120"/>
              </a:rPr>
              <a:t>The chatbot fetches crop-specific content dynamically from Supabase, enabling personalized responses.</a:t>
            </a:r>
            <a:endParaRPr lang="en-US" sz="1750" dirty="0"/>
          </a:p>
        </p:txBody>
      </p:sp>
      <p:sp>
        <p:nvSpPr>
          <p:cNvPr id="6" name="Text 4"/>
          <p:cNvSpPr/>
          <p:nvPr/>
        </p:nvSpPr>
        <p:spPr>
          <a:xfrm>
            <a:off x="793790" y="4660106"/>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AgriBotInsight India uses </a:t>
            </a:r>
            <a:r>
              <a:rPr lang="en-US" sz="1750" b="1" dirty="0">
                <a:solidFill>
                  <a:srgbClr val="504C49"/>
                </a:solidFill>
                <a:latin typeface="Source Serif Pro" pitchFamily="34" charset="0"/>
                <a:ea typeface="Source Serif Pro" pitchFamily="34" charset="-122"/>
                <a:cs typeface="Source Serif Pro" pitchFamily="34" charset="-120"/>
              </a:rPr>
              <a:t>Supabase</a:t>
            </a:r>
            <a:r>
              <a:rPr lang="en-US" sz="1750" dirty="0">
                <a:solidFill>
                  <a:srgbClr val="504C49"/>
                </a:solidFill>
                <a:latin typeface="Source Serif Pro" pitchFamily="34" charset="0"/>
                <a:ea typeface="Source Serif Pro" pitchFamily="34" charset="-122"/>
                <a:cs typeface="Source Serif Pro" pitchFamily="34" charset="-120"/>
              </a:rPr>
              <a:t>, an open-source Firebase alternative, as the core backend for real-time data access and management.</a:t>
            </a:r>
            <a:endParaRPr lang="en-US" sz="1750" dirty="0"/>
          </a:p>
        </p:txBody>
      </p:sp>
      <p:pic>
        <p:nvPicPr>
          <p:cNvPr id="7" name="Image 0" descr="preencoded.png"/>
          <p:cNvPicPr>
            <a:picLocks noChangeAspect="1"/>
          </p:cNvPicPr>
          <p:nvPr/>
        </p:nvPicPr>
        <p:blipFill>
          <a:blip r:embed="rId3"/>
          <a:stretch>
            <a:fillRect/>
          </a:stretch>
        </p:blipFill>
        <p:spPr>
          <a:xfrm>
            <a:off x="7990999" y="2295882"/>
            <a:ext cx="5853232" cy="4686657"/>
          </a:xfrm>
          <a:prstGeom prst="rect">
            <a:avLst/>
          </a:prstGeom>
        </p:spPr>
      </p:pic>
      <p:sp>
        <p:nvSpPr>
          <p:cNvPr id="8" name="TextBox 7">
            <a:extLst>
              <a:ext uri="{FF2B5EF4-FFF2-40B4-BE49-F238E27FC236}">
                <a16:creationId xmlns:a16="http://schemas.microsoft.com/office/drawing/2014/main" id="{DB0B1299-3257-4471-9732-2304783C91E4}"/>
              </a:ext>
            </a:extLst>
          </p:cNvPr>
          <p:cNvSpPr txBox="1"/>
          <p:nvPr/>
        </p:nvSpPr>
        <p:spPr>
          <a:xfrm>
            <a:off x="12755301" y="7577851"/>
            <a:ext cx="1875099" cy="65174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C5B8E9-D987-4114-A7E8-8B133C8D6D34}"/>
              </a:ext>
            </a:extLst>
          </p:cNvPr>
          <p:cNvPicPr>
            <a:picLocks noChangeAspect="1"/>
          </p:cNvPicPr>
          <p:nvPr/>
        </p:nvPicPr>
        <p:blipFill>
          <a:blip r:embed="rId3"/>
          <a:stretch>
            <a:fillRect/>
          </a:stretch>
        </p:blipFill>
        <p:spPr>
          <a:xfrm>
            <a:off x="46610" y="92597"/>
            <a:ext cx="14514342" cy="7575524"/>
          </a:xfrm>
          <a:prstGeom prst="rect">
            <a:avLst/>
          </a:prstGeom>
        </p:spPr>
      </p:pic>
      <p:sp>
        <p:nvSpPr>
          <p:cNvPr id="7" name="TextBox 6">
            <a:extLst>
              <a:ext uri="{FF2B5EF4-FFF2-40B4-BE49-F238E27FC236}">
                <a16:creationId xmlns:a16="http://schemas.microsoft.com/office/drawing/2014/main" id="{1DB0F5E1-AC5A-4FC0-AB67-D901886F96A6}"/>
              </a:ext>
            </a:extLst>
          </p:cNvPr>
          <p:cNvSpPr txBox="1"/>
          <p:nvPr/>
        </p:nvSpPr>
        <p:spPr>
          <a:xfrm>
            <a:off x="12685853" y="7668121"/>
            <a:ext cx="1944547" cy="561479"/>
          </a:xfrm>
          <a:prstGeom prst="rect">
            <a:avLst/>
          </a:prstGeom>
          <a:solidFill>
            <a:schemeClr val="bg1"/>
          </a:solidFill>
        </p:spPr>
        <p:txBody>
          <a:bodyPr wrap="squar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893</Words>
  <Application>Microsoft Office PowerPoint</Application>
  <PresentationFormat>Custom</PresentationFormat>
  <Paragraphs>104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Platypi Medium</vt:lpstr>
      <vt:lpstr>Arial</vt:lpstr>
      <vt:lpstr>Source Serif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Tanishq Bansal</cp:lastModifiedBy>
  <cp:revision>4</cp:revision>
  <dcterms:created xsi:type="dcterms:W3CDTF">2025-05-20T17:20:52Z</dcterms:created>
  <dcterms:modified xsi:type="dcterms:W3CDTF">2025-05-21T00:20:26Z</dcterms:modified>
</cp:coreProperties>
</file>